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1980069" cy="6700838"/>
  <p:notesSz cx="6700838" cy="1198006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Calibri"/>
              </a:rPr>
              <a:t>Code output vs. manual QA capacity (index)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Code output</c:v>
                </c:pt>
              </c:strCache>
            </c:strRef>
          </c:tx>
          <c:spPr>
            <a:solidFill>
              <a:srgbClr val="4AF66D"/>
            </a:solidFill>
            <a:ln w="38100" cap="flat">
              <a:solidFill>
                <a:srgbClr val="4AF66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4AF66D"/>
              </a:solidFill>
              <a:ln w="9525" cap="flat">
                <a:solidFill>
                  <a:srgbClr val="4AF66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  <c:pt idx="4">
                    <c:v>R5</c:v>
                  </c:pt>
                  <c:pt idx="5">
                    <c:v>R6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35</c:v>
                </c:pt>
                <c:pt idx="3">
                  <c:v>55</c:v>
                </c:pt>
                <c:pt idx="4">
                  <c:v>80</c:v>
                </c:pt>
                <c:pt idx="5">
                  <c:v>110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Manual QA capacity</c:v>
                </c:pt>
              </c:strCache>
            </c:strRef>
          </c:tx>
          <c:spPr>
            <a:solidFill>
              <a:srgbClr val="D9E3DC"/>
            </a:solidFill>
            <a:ln w="38100" cap="flat">
              <a:solidFill>
                <a:srgbClr val="D9E3D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9E3DC"/>
              </a:solidFill>
              <a:ln w="9525" cap="flat">
                <a:solidFill>
                  <a:srgbClr val="D9E3D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  <c:pt idx="4">
                    <c:v>R5</c:v>
                  </c:pt>
                  <c:pt idx="5">
                    <c:v>R6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</c:v>
                </c:pt>
                <c:pt idx="1">
                  <c:v>12</c:v>
                </c:pt>
                <c:pt idx="2">
                  <c:v>14</c:v>
                </c:pt>
                <c:pt idx="3">
                  <c:v>15</c:v>
                </c:pt>
                <c:pt idx="4">
                  <c:v>16</c:v>
                </c:pt>
                <c:pt idx="5">
                  <c:v>17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FF5D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C5A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FF5D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CFF5D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050" b="0" i="0" u="none" strike="noStrike">
                <a:solidFill>
                  <a:srgbClr val="FFFFFF"/>
                </a:solidFill>
                <a:latin typeface="Calibri"/>
              </a:rPr>
              <a:t>Bugs by severity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solidFill>
              <a:srgbClr val="FF5A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5A5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B0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E06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F66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Critical</c:v>
                  </c:pt>
                  <c:pt idx="1">
                    <c:v>High</c:v>
                  </c:pt>
                  <c:pt idx="2">
                    <c:v>Medium</c:v>
                  </c:pt>
                  <c:pt idx="3">
                    <c:v>Low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5</c:v>
                </c:pt>
                <c:pt idx="2">
                  <c:v>9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CFF5D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FF5D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Calibri"/>
              </a:rPr>
              <a:t>Hours per regression cycle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QA</c:v>
                </c:pt>
              </c:strCache>
            </c:strRef>
          </c:tx>
          <c:spPr>
            <a:solidFill>
              <a:srgbClr val="D9E3DC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Test design</c:v>
                  </c:pt>
                  <c:pt idx="1">
                    <c:v>Execution</c:v>
                  </c:pt>
                  <c:pt idx="2">
                    <c:v>Bug reporting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10</c:v>
                </c:pt>
                <c:pt idx="2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Autonomous AI QA</c:v>
                </c:pt>
              </c:strCache>
            </c:strRef>
          </c:tx>
          <c:spPr>
            <a:solidFill>
              <a:srgbClr val="4AF66D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Test design</c:v>
                  </c:pt>
                  <c:pt idx="1">
                    <c:v>Execution</c:v>
                  </c:pt>
                  <c:pt idx="2">
                    <c:v>Bug reporting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0.5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FF5D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C5A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FF5D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CFF5D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Kartos, led by Soham Jadhav. Track 2 (iMocha), Problem 02: Autonomous AI QA Engineer - an AI agent that explores a web app, generates and runs tests, and reports bugs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is affected, the gap, and why now. The chart is illustrative - it shows the shape of the problem (output growing faster than manual QA capacity), not measured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makes it different: autonomous exploration, evidence-first reports, verification loop. Core mechanism is a six-step pipeline. Feasible because Playwright and LLM APIs are mature and the MVP scope is one URL plus core 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diagram: dashboard to API to job queue; the agent plans with the LLM, generates Playwright tests and executes them against the target app; evidence is captured, verified, turned into bug reports, stored, and shown back on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key features on the left. On the right: a mock of the live-run dashboard, a bug report card with evidence, and a severity chart. All numbers on this slide are sample data from a demo, not measured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columns: built today, in progress, planned beyond the hackathon, mapped to three phases. Update the status columns to match the team's real progress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and scalability. The hours-per-cycle chart is an illustrative target, not a measured result - validate with prototype benchmarks before claiming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2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5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Slide-7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91803" y="4654868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Kartos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4053840" y="5030153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Soham Jadhav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525453" y="5405438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QA Engineer  |  iMocha Track 2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6750" y="2419350"/>
            <a:ext cx="6858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teams and startups shipping web apps fast with little or no QA capacity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engineers stuck in repetitive regression testing and script upkeep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 and product owners who run into bugs in production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66750" y="3562350"/>
            <a:ext cx="6858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is slow; scripted automation is brittle and breaks on UI changes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generate tests but don't explore on their own or give reproducible evidence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reports lack steps and proof, causing dev-QA back-and-forth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66750" y="4657725"/>
            <a:ext cx="685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coding is raising code output faster than humans can test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release cycles make testing the new bottleneck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agents with vision and browser control can now explore apps on their own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20000" y="1866900"/>
            <a:ext cx="3714750" cy="3619500"/>
          </a:xfrm>
          <a:prstGeom prst="rect">
            <a:avLst/>
          </a:prstGeom>
          <a:solidFill>
            <a:srgbClr val="020A05">
              <a:alpha val="70000"/>
            </a:srgbClr>
          </a:solidFill>
          <a:ln w="12700">
            <a:solidFill>
              <a:srgbClr val="4AF66D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7696200" y="1943100"/>
          <a:ext cx="3562350" cy="31432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696200" y="5181600"/>
            <a:ext cx="3562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trend, not measured data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2495550"/>
            <a:ext cx="10763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 exploration: paste a URL, no pre-written test scripts needed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Evidence-first bug reports: steps, expected vs actual, screenshot, console / network logs and trace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loop re-runs every suspected bug to cut false positives, plus automatic severity triage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71500" y="3743325"/>
            <a:ext cx="1619250" cy="685800"/>
          </a:xfrm>
          <a:prstGeom prst="roundRect">
            <a:avLst>
              <a:gd name="adj" fmla="val 8000"/>
            </a:avLst>
          </a:prstGeom>
          <a:solidFill>
            <a:srgbClr val="06190C">
              <a:alpha val="9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6750" y="3743325"/>
            <a:ext cx="142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EXPLORE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Crawls the app, maps pages &amp; flows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09800" y="4086225"/>
            <a:ext cx="171450" cy="0"/>
          </a:xfrm>
          <a:prstGeom prst="line">
            <a:avLst/>
          </a:prstGeom>
          <a:noFill/>
          <a:ln w="22225">
            <a:solidFill>
              <a:srgbClr val="4AF66D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400300" y="3743325"/>
            <a:ext cx="1619250" cy="685800"/>
          </a:xfrm>
          <a:prstGeom prst="roundRect">
            <a:avLst>
              <a:gd name="adj" fmla="val 8000"/>
            </a:avLst>
          </a:prstGeom>
          <a:solidFill>
            <a:srgbClr val="06190C">
              <a:alpha val="9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95550" y="3743325"/>
            <a:ext cx="142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PLAN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proposes test scenarios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38600" y="4086225"/>
            <a:ext cx="171450" cy="0"/>
          </a:xfrm>
          <a:prstGeom prst="line">
            <a:avLst/>
          </a:prstGeom>
          <a:noFill/>
          <a:ln w="22225">
            <a:solidFill>
              <a:srgbClr val="4AF66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29100" y="3743325"/>
            <a:ext cx="1619250" cy="685800"/>
          </a:xfrm>
          <a:prstGeom prst="roundRect">
            <a:avLst>
              <a:gd name="adj" fmla="val 8000"/>
            </a:avLst>
          </a:prstGeom>
          <a:solidFill>
            <a:srgbClr val="06190C">
              <a:alpha val="9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24350" y="3743325"/>
            <a:ext cx="142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GENERATE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executable Playwright tests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67400" y="4086225"/>
            <a:ext cx="171450" cy="0"/>
          </a:xfrm>
          <a:prstGeom prst="line">
            <a:avLst/>
          </a:prstGeom>
          <a:noFill/>
          <a:ln w="22225">
            <a:solidFill>
              <a:srgbClr val="4AF66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57900" y="3743325"/>
            <a:ext cx="1619250" cy="685800"/>
          </a:xfrm>
          <a:prstGeom prst="roundRect">
            <a:avLst>
              <a:gd name="adj" fmla="val 8000"/>
            </a:avLst>
          </a:prstGeom>
          <a:solidFill>
            <a:srgbClr val="06190C">
              <a:alpha val="9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53150" y="3743325"/>
            <a:ext cx="142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EXECUTE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headless, captures evidence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96200" y="4086225"/>
            <a:ext cx="171450" cy="0"/>
          </a:xfrm>
          <a:prstGeom prst="line">
            <a:avLst/>
          </a:prstGeom>
          <a:noFill/>
          <a:ln w="22225">
            <a:solidFill>
              <a:srgbClr val="4AF66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886700" y="3743325"/>
            <a:ext cx="1619250" cy="685800"/>
          </a:xfrm>
          <a:prstGeom prst="roundRect">
            <a:avLst>
              <a:gd name="adj" fmla="val 8000"/>
            </a:avLst>
          </a:prstGeom>
          <a:solidFill>
            <a:srgbClr val="06190C">
              <a:alpha val="9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81950" y="3743325"/>
            <a:ext cx="142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VERIFY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failures to filter flaky bugs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525000" y="4086225"/>
            <a:ext cx="171450" cy="0"/>
          </a:xfrm>
          <a:prstGeom prst="line">
            <a:avLst/>
          </a:prstGeom>
          <a:noFill/>
          <a:ln w="22225">
            <a:solidFill>
              <a:srgbClr val="4AF66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715500" y="3743325"/>
            <a:ext cx="1619250" cy="685800"/>
          </a:xfrm>
          <a:prstGeom prst="roundRect">
            <a:avLst>
              <a:gd name="adj" fmla="val 8000"/>
            </a:avLst>
          </a:prstGeom>
          <a:solidFill>
            <a:srgbClr val="06190C">
              <a:alpha val="9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10750" y="3743325"/>
            <a:ext cx="142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REPORT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bug with steps, proof &amp; severity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" y="4991100"/>
            <a:ext cx="10763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and LLM APIs are mature, ready-to-use building blocks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scope: one web-app URL and core flows (navigation, forms, login, CRUD)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on a sample web app with seeded bugs, so results are visible and verifiable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571750" y="1994535"/>
            <a:ext cx="14287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CSS dashboard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2571750" y="2733675"/>
            <a:ext cx="14287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· Celery + Redis job queue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571750" y="3480435"/>
            <a:ext cx="14287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object storage for evidence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571750" y="4232910"/>
            <a:ext cx="14287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(LLM) · Playwright automation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571750" y="5057775"/>
            <a:ext cx="14287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GitHub Actions · cloud deploy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00550" y="2647950"/>
            <a:ext cx="71056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4AF66D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476750" y="2667000"/>
            <a:ext cx="2857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QA AGENT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476750" y="1828800"/>
            <a:ext cx="1809750" cy="590550"/>
          </a:xfrm>
          <a:prstGeom prst="roundRect">
            <a:avLst>
              <a:gd name="adj" fmla="val 9290"/>
            </a:avLst>
          </a:prstGeom>
          <a:solidFill>
            <a:srgbClr val="06190C">
              <a:alpha val="9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2950" y="1828800"/>
            <a:ext cx="1657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· enter app URL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00875" y="1828800"/>
            <a:ext cx="1809750" cy="590550"/>
          </a:xfrm>
          <a:prstGeom prst="roundRect">
            <a:avLst>
              <a:gd name="adj" fmla="val 9290"/>
            </a:avLst>
          </a:prstGeom>
          <a:solidFill>
            <a:srgbClr val="06190C">
              <a:alpha val="9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77075" y="1828800"/>
            <a:ext cx="1657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REST + WebSocket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525000" y="1828800"/>
            <a:ext cx="1809750" cy="590550"/>
          </a:xfrm>
          <a:prstGeom prst="roundRect">
            <a:avLst>
              <a:gd name="adj" fmla="val 9290"/>
            </a:avLst>
          </a:prstGeom>
          <a:solidFill>
            <a:srgbClr val="06190C">
              <a:alpha val="9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0" y="1828800"/>
            <a:ext cx="1657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· Celery workers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525000" y="2828925"/>
            <a:ext cx="1809750" cy="590550"/>
          </a:xfrm>
          <a:prstGeom prst="roundRect">
            <a:avLst>
              <a:gd name="adj" fmla="val 9290"/>
            </a:avLst>
          </a:prstGeom>
          <a:solidFill>
            <a:srgbClr val="06190C">
              <a:alpha val="9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0" y="2828925"/>
            <a:ext cx="1657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Planner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· test scenarios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00875" y="2828925"/>
            <a:ext cx="1809750" cy="590550"/>
          </a:xfrm>
          <a:prstGeom prst="roundRect">
            <a:avLst>
              <a:gd name="adj" fmla="val 9290"/>
            </a:avLst>
          </a:prstGeom>
          <a:solidFill>
            <a:srgbClr val="06190C">
              <a:alpha val="9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77075" y="2828925"/>
            <a:ext cx="1657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Generator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→ Playwright code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76750" y="2828925"/>
            <a:ext cx="1809750" cy="590550"/>
          </a:xfrm>
          <a:prstGeom prst="roundRect">
            <a:avLst>
              <a:gd name="adj" fmla="val 9290"/>
            </a:avLst>
          </a:prstGeom>
          <a:solidFill>
            <a:srgbClr val="06190C">
              <a:alpha val="9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52950" y="2828925"/>
            <a:ext cx="1657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Executor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browser actions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76750" y="3829050"/>
            <a:ext cx="1809750" cy="590550"/>
          </a:xfrm>
          <a:prstGeom prst="roundRect">
            <a:avLst>
              <a:gd name="adj" fmla="val 9290"/>
            </a:avLst>
          </a:prstGeom>
          <a:solidFill>
            <a:srgbClr val="06190C">
              <a:alpha val="9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52950" y="3829050"/>
            <a:ext cx="1657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Web App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under test (any URL)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00875" y="3829050"/>
            <a:ext cx="1809750" cy="590550"/>
          </a:xfrm>
          <a:prstGeom prst="roundRect">
            <a:avLst>
              <a:gd name="adj" fmla="val 9290"/>
            </a:avLst>
          </a:prstGeom>
          <a:solidFill>
            <a:srgbClr val="06190C">
              <a:alpha val="9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77075" y="3829050"/>
            <a:ext cx="1657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Capture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· DOM · logs · video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525000" y="3829050"/>
            <a:ext cx="1809750" cy="590550"/>
          </a:xfrm>
          <a:prstGeom prst="roundRect">
            <a:avLst>
              <a:gd name="adj" fmla="val 9290"/>
            </a:avLst>
          </a:prstGeom>
          <a:solidFill>
            <a:srgbClr val="06190C">
              <a:alpha val="9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01200" y="3829050"/>
            <a:ext cx="1657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+ flaky filter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525000" y="4829175"/>
            <a:ext cx="1809750" cy="590550"/>
          </a:xfrm>
          <a:prstGeom prst="roundRect">
            <a:avLst>
              <a:gd name="adj" fmla="val 9290"/>
            </a:avLst>
          </a:prstGeom>
          <a:solidFill>
            <a:srgbClr val="06190C">
              <a:alpha val="9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01200" y="4829175"/>
            <a:ext cx="1657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Reporter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· proof · severity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000875" y="4829175"/>
            <a:ext cx="1809750" cy="590550"/>
          </a:xfrm>
          <a:prstGeom prst="roundRect">
            <a:avLst>
              <a:gd name="adj" fmla="val 9290"/>
            </a:avLst>
          </a:prstGeom>
          <a:solidFill>
            <a:srgbClr val="06190C">
              <a:alpha val="9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77075" y="4829175"/>
            <a:ext cx="1657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Storage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object store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76750" y="4829175"/>
            <a:ext cx="1809750" cy="590550"/>
          </a:xfrm>
          <a:prstGeom prst="roundRect">
            <a:avLst>
              <a:gd name="adj" fmla="val 9290"/>
            </a:avLst>
          </a:prstGeom>
          <a:solidFill>
            <a:srgbClr val="06190C">
              <a:alpha val="9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52950" y="4829175"/>
            <a:ext cx="16573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reports · run history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15075" y="2124075"/>
            <a:ext cx="657225" cy="0"/>
          </a:xfrm>
          <a:prstGeom prst="line">
            <a:avLst/>
          </a:prstGeom>
          <a:noFill/>
          <a:ln w="22225">
            <a:solidFill>
              <a:srgbClr val="4AF66D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839200" y="2124075"/>
            <a:ext cx="657225" cy="0"/>
          </a:xfrm>
          <a:prstGeom prst="line">
            <a:avLst/>
          </a:prstGeom>
          <a:noFill/>
          <a:ln w="22225">
            <a:solidFill>
              <a:srgbClr val="4AF66D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429875" y="2438400"/>
            <a:ext cx="0" cy="371475"/>
          </a:xfrm>
          <a:prstGeom prst="line">
            <a:avLst/>
          </a:prstGeom>
          <a:noFill/>
          <a:ln w="22225">
            <a:solidFill>
              <a:srgbClr val="4AF66D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H="1">
            <a:off x="8839200" y="3124200"/>
            <a:ext cx="657225" cy="0"/>
          </a:xfrm>
          <a:prstGeom prst="line">
            <a:avLst/>
          </a:prstGeom>
          <a:noFill/>
          <a:ln w="22225">
            <a:solidFill>
              <a:srgbClr val="4AF66D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>
            <a:off x="6315075" y="3124200"/>
            <a:ext cx="657225" cy="0"/>
          </a:xfrm>
          <a:prstGeom prst="line">
            <a:avLst/>
          </a:prstGeom>
          <a:noFill/>
          <a:ln w="22225">
            <a:solidFill>
              <a:srgbClr val="4AF66D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381625" y="3438525"/>
            <a:ext cx="0" cy="371475"/>
          </a:xfrm>
          <a:prstGeom prst="line">
            <a:avLst/>
          </a:prstGeom>
          <a:noFill/>
          <a:ln w="22225">
            <a:solidFill>
              <a:srgbClr val="4AF66D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315075" y="4124325"/>
            <a:ext cx="657225" cy="0"/>
          </a:xfrm>
          <a:prstGeom prst="line">
            <a:avLst/>
          </a:prstGeom>
          <a:noFill/>
          <a:ln w="22225">
            <a:solidFill>
              <a:srgbClr val="4AF66D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839200" y="4124325"/>
            <a:ext cx="657225" cy="0"/>
          </a:xfrm>
          <a:prstGeom prst="line">
            <a:avLst/>
          </a:prstGeom>
          <a:noFill/>
          <a:ln w="22225">
            <a:solidFill>
              <a:srgbClr val="4AF66D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429875" y="4438650"/>
            <a:ext cx="0" cy="371475"/>
          </a:xfrm>
          <a:prstGeom prst="line">
            <a:avLst/>
          </a:prstGeom>
          <a:noFill/>
          <a:ln w="22225">
            <a:solidFill>
              <a:srgbClr val="4AF66D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H="1">
            <a:off x="8839200" y="5124450"/>
            <a:ext cx="657225" cy="0"/>
          </a:xfrm>
          <a:prstGeom prst="line">
            <a:avLst/>
          </a:prstGeom>
          <a:noFill/>
          <a:ln w="22225">
            <a:solidFill>
              <a:srgbClr val="4AF66D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H="1">
            <a:off x="6315075" y="5124450"/>
            <a:ext cx="657225" cy="0"/>
          </a:xfrm>
          <a:prstGeom prst="line">
            <a:avLst/>
          </a:prstGeom>
          <a:noFill/>
          <a:ln w="22225">
            <a:solidFill>
              <a:srgbClr val="4AF66D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4476750" y="5562600"/>
            <a:ext cx="6858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is stored, so tests, evidence and bug reports stay reproducible and shareable.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866900"/>
            <a:ext cx="2667000" cy="933450"/>
          </a:xfrm>
          <a:prstGeom prst="roundRect">
            <a:avLst>
              <a:gd name="adj" fmla="val 5878"/>
            </a:avLst>
          </a:prstGeom>
          <a:solidFill>
            <a:srgbClr val="020A05">
              <a:alpha val="7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1962150"/>
            <a:ext cx="2438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run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URL and start testing; no scripts or setup needed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29000" y="1866900"/>
            <a:ext cx="2667000" cy="933450"/>
          </a:xfrm>
          <a:prstGeom prst="roundRect">
            <a:avLst>
              <a:gd name="adj" fmla="val 5878"/>
            </a:avLst>
          </a:prstGeom>
          <a:solidFill>
            <a:srgbClr val="020A05">
              <a:alpha val="7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543300" y="1962150"/>
            <a:ext cx="2438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agent view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actions and screenshots stream in real time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71500" y="2895600"/>
            <a:ext cx="2667000" cy="933450"/>
          </a:xfrm>
          <a:prstGeom prst="roundRect">
            <a:avLst>
              <a:gd name="adj" fmla="val 5878"/>
            </a:avLst>
          </a:prstGeom>
          <a:solidFill>
            <a:srgbClr val="020A05">
              <a:alpha val="7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990850"/>
            <a:ext cx="2438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tests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edit and re-run the generated Playwright suite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2895600"/>
            <a:ext cx="2667000" cy="933450"/>
          </a:xfrm>
          <a:prstGeom prst="roundRect">
            <a:avLst>
              <a:gd name="adj" fmla="val 5878"/>
            </a:avLst>
          </a:prstGeom>
          <a:solidFill>
            <a:srgbClr val="020A05">
              <a:alpha val="7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3300" y="2990850"/>
            <a:ext cx="2438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Evidence-rich bug cards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expected vs actual, screenshot, logs, severity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1500" y="3924300"/>
            <a:ext cx="2667000" cy="933450"/>
          </a:xfrm>
          <a:prstGeom prst="roundRect">
            <a:avLst>
              <a:gd name="adj" fmla="val 5878"/>
            </a:avLst>
          </a:prstGeom>
          <a:solidFill>
            <a:srgbClr val="020A05">
              <a:alpha val="7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019550"/>
            <a:ext cx="2438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dashboard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history and trends at a glance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3924300"/>
            <a:ext cx="2667000" cy="933450"/>
          </a:xfrm>
          <a:prstGeom prst="roundRect">
            <a:avLst>
              <a:gd name="adj" fmla="val 5878"/>
            </a:avLst>
          </a:prstGeom>
          <a:solidFill>
            <a:srgbClr val="020A05">
              <a:alpha val="7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43300" y="4019550"/>
            <a:ext cx="2438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&amp; integrations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on every build; GitHub / Jira export planned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71500" y="5048250"/>
            <a:ext cx="552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neon console that is easy to scan, with evidence one click away from every bug.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77000" y="1809750"/>
            <a:ext cx="4953000" cy="1866900"/>
          </a:xfrm>
          <a:prstGeom prst="rect">
            <a:avLst/>
          </a:prstGeom>
          <a:solidFill>
            <a:srgbClr val="020A05">
              <a:alpha val="7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7000" y="1809750"/>
            <a:ext cx="4953000" cy="209550"/>
          </a:xfrm>
          <a:prstGeom prst="rect">
            <a:avLst/>
          </a:prstGeom>
          <a:solidFill>
            <a:srgbClr val="0E3B1C"/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72250" y="1876425"/>
            <a:ext cx="76200" cy="76200"/>
          </a:xfrm>
          <a:prstGeom prst="ellipse">
            <a:avLst/>
          </a:prstGeom>
          <a:solidFill>
            <a:srgbClr val="FF5A5A"/>
          </a:solidFill>
          <a:ln w="12700">
            <a:solidFill>
              <a:srgbClr val="020A0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86550" y="1876425"/>
            <a:ext cx="76200" cy="76200"/>
          </a:xfrm>
          <a:prstGeom prst="ellipse">
            <a:avLst/>
          </a:prstGeom>
          <a:solidFill>
            <a:srgbClr val="FFB02E"/>
          </a:solidFill>
          <a:ln w="12700">
            <a:solidFill>
              <a:srgbClr val="020A0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00850" y="1876425"/>
            <a:ext cx="76200" cy="76200"/>
          </a:xfrm>
          <a:prstGeom prst="ellipse">
            <a:avLst/>
          </a:prstGeom>
          <a:solidFill>
            <a:srgbClr val="4AF66D"/>
          </a:solidFill>
          <a:ln w="12700">
            <a:solidFill>
              <a:srgbClr val="020A0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48500" y="180975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KARTOS QA AGENT  |  Live Run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591300" y="2095500"/>
            <a:ext cx="3524250" cy="228600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2C5A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67500" y="2095500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https://demo-shop.example.com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191750" y="2095500"/>
            <a:ext cx="1123950" cy="228600"/>
          </a:xfrm>
          <a:prstGeom prst="rect">
            <a:avLst/>
          </a:prstGeom>
          <a:solidFill>
            <a:srgbClr val="4AF66D"/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191750" y="2095500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AGENT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591300" y="2419350"/>
            <a:ext cx="19526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AF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[explore] 14 pages mapped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AF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[plan]    23 scenarios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AF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[exec]    19 / 23 passed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AF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[verify]  4 failures re-run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4AF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[report]  3 bugs confirmed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20125" y="2419350"/>
            <a:ext cx="838200" cy="476250"/>
          </a:xfrm>
          <a:prstGeom prst="rect">
            <a:avLst/>
          </a:prstGeom>
          <a:solidFill>
            <a:srgbClr val="06190C">
              <a:alpha val="90000"/>
            </a:srgbClr>
          </a:solidFill>
          <a:ln w="12700">
            <a:solidFill>
              <a:srgbClr val="2C5A3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20125" y="2419350"/>
            <a:ext cx="838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48813" y="2419350"/>
            <a:ext cx="838200" cy="476250"/>
          </a:xfrm>
          <a:prstGeom prst="rect">
            <a:avLst/>
          </a:prstGeom>
          <a:solidFill>
            <a:srgbClr val="06190C">
              <a:alpha val="90000"/>
            </a:srgbClr>
          </a:solidFill>
          <a:ln w="12700">
            <a:solidFill>
              <a:srgbClr val="2C5A3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548813" y="2419350"/>
            <a:ext cx="838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477500" y="2419350"/>
            <a:ext cx="838200" cy="476250"/>
          </a:xfrm>
          <a:prstGeom prst="rect">
            <a:avLst/>
          </a:prstGeom>
          <a:solidFill>
            <a:srgbClr val="06190C">
              <a:alpha val="90000"/>
            </a:srgbClr>
          </a:solidFill>
          <a:ln w="12700">
            <a:solidFill>
              <a:srgbClr val="2C5A3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477500" y="2419350"/>
            <a:ext cx="838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620125" y="2990850"/>
            <a:ext cx="26955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 82%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620125" y="3143250"/>
            <a:ext cx="2695575" cy="76200"/>
          </a:xfrm>
          <a:prstGeom prst="rect">
            <a:avLst/>
          </a:prstGeom>
          <a:solidFill>
            <a:srgbClr val="0E3B1C"/>
          </a:solidFill>
          <a:ln w="6350">
            <a:solidFill>
              <a:srgbClr val="2C5A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20125" y="3143250"/>
            <a:ext cx="2210371" cy="76200"/>
          </a:xfrm>
          <a:prstGeom prst="rect">
            <a:avLst/>
          </a:prstGeom>
          <a:solidFill>
            <a:srgbClr val="4AF66D"/>
          </a:solidFill>
          <a:ln w="6350">
            <a:solidFill>
              <a:srgbClr val="4AF66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91300" y="3486150"/>
            <a:ext cx="2857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mockup, sample data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477000" y="3810000"/>
            <a:ext cx="2381250" cy="1905000"/>
          </a:xfrm>
          <a:prstGeom prst="rect">
            <a:avLst/>
          </a:prstGeom>
          <a:solidFill>
            <a:srgbClr val="020A05">
              <a:alpha val="7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91300" y="3886200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B-014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267700" y="3886200"/>
            <a:ext cx="495300" cy="171450"/>
          </a:xfrm>
          <a:prstGeom prst="roundRect">
            <a:avLst>
              <a:gd name="adj" fmla="val 32000"/>
            </a:avLst>
          </a:prstGeom>
          <a:solidFill>
            <a:srgbClr val="FFB02E"/>
          </a:solidFill>
          <a:ln w="6350">
            <a:solidFill>
              <a:srgbClr val="FFB0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67700" y="3886200"/>
            <a:ext cx="495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591300" y="4114800"/>
            <a:ext cx="21526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fails when coupon field is empty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591300" y="4476750"/>
            <a:ext cx="2152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 1 Add item to cart, 2 Open checkout, 3 Click Pay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6591300" y="4800600"/>
            <a:ext cx="2152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order confirmed  |  Actual: HTTP 500 error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591300" y="5181600"/>
            <a:ext cx="1352550" cy="438150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FF5A5A"/>
            </a:solidFill>
            <a:prstDash val="dash"/>
          </a:ln>
        </p:spPr>
      </p:sp>
      <p:sp>
        <p:nvSpPr>
          <p:cNvPr id="44" name="Text 42"/>
          <p:cNvSpPr txBox="1"/>
          <p:nvPr/>
        </p:nvSpPr>
        <p:spPr>
          <a:xfrm>
            <a:off x="6591300" y="5181600"/>
            <a:ext cx="13525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evidence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020050" y="5200650"/>
            <a:ext cx="742950" cy="123825"/>
          </a:xfrm>
          <a:prstGeom prst="rect">
            <a:avLst/>
          </a:prstGeom>
          <a:solidFill>
            <a:srgbClr val="0E3B1C"/>
          </a:solidFill>
          <a:ln w="6350">
            <a:solidFill>
              <a:srgbClr val="2C5A3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020050" y="5200650"/>
            <a:ext cx="7429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console.log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8020050" y="5343525"/>
            <a:ext cx="742950" cy="123825"/>
          </a:xfrm>
          <a:prstGeom prst="rect">
            <a:avLst/>
          </a:prstGeom>
          <a:solidFill>
            <a:srgbClr val="0E3B1C"/>
          </a:solidFill>
          <a:ln w="6350">
            <a:solidFill>
              <a:srgbClr val="2C5A3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020050" y="5343525"/>
            <a:ext cx="7429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network.har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8020050" y="5486400"/>
            <a:ext cx="742950" cy="123825"/>
          </a:xfrm>
          <a:prstGeom prst="rect">
            <a:avLst/>
          </a:prstGeom>
          <a:solidFill>
            <a:srgbClr val="0E3B1C"/>
          </a:solidFill>
          <a:ln w="6350">
            <a:solidFill>
              <a:srgbClr val="2C5A3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020050" y="5486400"/>
            <a:ext cx="7429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video.webm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9001125" y="3810000"/>
            <a:ext cx="2428875" cy="1905000"/>
          </a:xfrm>
          <a:prstGeom prst="rect">
            <a:avLst/>
          </a:prstGeom>
          <a:solidFill>
            <a:srgbClr val="020A05">
              <a:alpha val="70000"/>
            </a:srgbClr>
          </a:solidFill>
          <a:ln w="12700">
            <a:solidFill>
              <a:srgbClr val="4AF66D"/>
            </a:solidFill>
            <a:prstDash val="solid"/>
          </a:ln>
        </p:spPr>
      </p:sp>
      <p:graphicFrame>
        <p:nvGraphicFramePr>
          <p:cNvPr id="52" name="Chart 0" descr=""/>
          <p:cNvGraphicFramePr/>
          <p:nvPr/>
        </p:nvGraphicFramePr>
        <p:xfrm>
          <a:off x="9048750" y="3848100"/>
          <a:ext cx="2333625" cy="16383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3" name="Text 50"/>
          <p:cNvSpPr txBox="1"/>
          <p:nvPr/>
        </p:nvSpPr>
        <p:spPr>
          <a:xfrm>
            <a:off x="9001125" y="5505450"/>
            <a:ext cx="2428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from a demo run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962150"/>
            <a:ext cx="3429000" cy="2495550"/>
          </a:xfrm>
          <a:prstGeom prst="rect">
            <a:avLst/>
          </a:prstGeom>
          <a:solidFill>
            <a:srgbClr val="020A05">
              <a:alpha val="7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" y="1962150"/>
            <a:ext cx="3429000" cy="342900"/>
          </a:xfrm>
          <a:prstGeom prst="rect">
            <a:avLst/>
          </a:prstGeom>
          <a:solidFill>
            <a:srgbClr val="0E3B1C"/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850" y="1962150"/>
            <a:ext cx="3162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TODAY (demo scope)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04850" y="2495550"/>
            <a:ext cx="3162300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input and run dashboard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Playwright-based explorer and test executor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 with screenshot evidence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Seeded-bug sample app for the live demo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38625" y="1962150"/>
            <a:ext cx="3429000" cy="2495550"/>
          </a:xfrm>
          <a:prstGeom prst="rect">
            <a:avLst/>
          </a:prstGeom>
          <a:solidFill>
            <a:srgbClr val="020A05">
              <a:alpha val="7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38625" y="1962150"/>
            <a:ext cx="3429000" cy="342900"/>
          </a:xfrm>
          <a:prstGeom prst="rect">
            <a:avLst/>
          </a:prstGeom>
          <a:solidFill>
            <a:srgbClr val="0E3B1C"/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1975" y="1962150"/>
            <a:ext cx="3162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371975" y="2495550"/>
            <a:ext cx="3162300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test planner and test generator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loop to filter false positives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triage and run history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agent action stream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05750" y="1962150"/>
            <a:ext cx="3429000" cy="2495550"/>
          </a:xfrm>
          <a:prstGeom prst="rect">
            <a:avLst/>
          </a:prstGeom>
          <a:solidFill>
            <a:srgbClr val="020A05">
              <a:alpha val="7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5750" y="1962150"/>
            <a:ext cx="3429000" cy="342900"/>
          </a:xfrm>
          <a:prstGeom prst="rect">
            <a:avLst/>
          </a:prstGeom>
          <a:solidFill>
            <a:srgbClr val="0E3B1C"/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39100" y="1962150"/>
            <a:ext cx="3162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BEYOND THE HACKATHON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039100" y="2495550"/>
            <a:ext cx="3162300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 (GitHub Actions)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Jira issue export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flows, API and mobile testing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browser workers for large apps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1500" y="4743450"/>
            <a:ext cx="3571875" cy="514350"/>
          </a:xfrm>
          <a:prstGeom prst="chevron">
            <a:avLst/>
          </a:prstGeom>
          <a:solidFill>
            <a:srgbClr val="0E3B1C">
              <a:alpha val="9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8200" y="4743450"/>
            <a:ext cx="3048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|  CORE MVP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38625" y="4743450"/>
            <a:ext cx="3571875" cy="514350"/>
          </a:xfrm>
          <a:prstGeom prst="chevron">
            <a:avLst/>
          </a:prstGeom>
          <a:solidFill>
            <a:srgbClr val="0E3B1C">
              <a:alpha val="9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05325" y="4743450"/>
            <a:ext cx="3048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|  INTELLIGENCE &amp; INTEGRATIONS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05750" y="4743450"/>
            <a:ext cx="3571875" cy="514350"/>
          </a:xfrm>
          <a:prstGeom prst="chevron">
            <a:avLst/>
          </a:prstGeom>
          <a:solidFill>
            <a:srgbClr val="0E3B1C">
              <a:alpha val="9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72450" y="4743450"/>
            <a:ext cx="3048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|  SCALE &amp; EXPAND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885950"/>
            <a:ext cx="5143500" cy="1238250"/>
          </a:xfrm>
          <a:prstGeom prst="roundRect">
            <a:avLst>
              <a:gd name="adj" fmla="val 4431"/>
            </a:avLst>
          </a:prstGeom>
          <a:solidFill>
            <a:srgbClr val="020A05">
              <a:alpha val="7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2950" y="198120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42950" y="2266950"/>
            <a:ext cx="48196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▸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and dev teams with little or no QA capacity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▸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engineers freed from repetitive regression work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▸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owners and users who get fewer production bugs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71500" y="3238500"/>
            <a:ext cx="5143500" cy="1238250"/>
          </a:xfrm>
          <a:prstGeom prst="roundRect">
            <a:avLst>
              <a:gd name="adj" fmla="val 4431"/>
            </a:avLst>
          </a:prstGeom>
          <a:solidFill>
            <a:srgbClr val="020A05">
              <a:alpha val="7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2950" y="333375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the opportunity 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2950" y="3619500"/>
            <a:ext cx="48196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▸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that ships a web app needs testing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▸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coding is widening the testing bottleneck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▸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path from hackathon tool to SaaS for teams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1500" y="4591050"/>
            <a:ext cx="5143500" cy="1238250"/>
          </a:xfrm>
          <a:prstGeom prst="roundRect">
            <a:avLst>
              <a:gd name="adj" fmla="val 4431"/>
            </a:avLst>
          </a:prstGeom>
          <a:solidFill>
            <a:srgbClr val="020A05">
              <a:alpha val="7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2950" y="468630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grows beyond a demo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2950" y="4972050"/>
            <a:ext cx="48196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▸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 with one-line CI/CD integration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▸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browser workers for large applications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▸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API testing; learns from past runs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00750" y="1885950"/>
            <a:ext cx="5429250" cy="3295650"/>
          </a:xfrm>
          <a:prstGeom prst="rect">
            <a:avLst/>
          </a:prstGeom>
          <a:solidFill>
            <a:srgbClr val="020A05">
              <a:alpha val="70000"/>
            </a:srgbClr>
          </a:solidFill>
          <a:ln w="12700">
            <a:solidFill>
              <a:srgbClr val="4AF66D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6096000" y="1962150"/>
          <a:ext cx="5238750" cy="31432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Shape 10"/>
          <p:cNvSpPr/>
          <p:nvPr/>
        </p:nvSpPr>
        <p:spPr>
          <a:xfrm>
            <a:off x="6000750" y="5295900"/>
            <a:ext cx="5429250" cy="533400"/>
          </a:xfrm>
          <a:prstGeom prst="rect">
            <a:avLst/>
          </a:prstGeom>
          <a:solidFill>
            <a:srgbClr val="020A05">
              <a:alpha val="70000"/>
            </a:srgbClr>
          </a:solidFill>
          <a:ln w="12700">
            <a:solidFill>
              <a:srgbClr val="4AF66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00750" y="5295900"/>
            <a:ext cx="5429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h  -&gt;  ~2.5 h per cycle</a:t>
            </a:r>
            <a:endParaRPr lang="en-US" sz="12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target estimates, to be validated with prototype benchmarks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24750" y="4686300"/>
            <a:ext cx="400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4AF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Kartos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leader: Soham Jadhav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F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QA Engineer  |  iMocha Track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Kartos - Autonomous AI QA Engineer | Code Apex 3.0</dc:title>
  <dc:subject>PptxGenJS Presentation</dc:subject>
  <dc:creator>Team Kartos</dc:creator>
  <cp:lastModifiedBy>Team Kartos</cp:lastModifiedBy>
  <cp:revision>1</cp:revision>
  <dcterms:created xsi:type="dcterms:W3CDTF">2026-10-10T10:23:51Z</dcterms:created>
  <dcterms:modified xsi:type="dcterms:W3CDTF">2026-10-10T10:23:51Z</dcterms:modified>
</cp:coreProperties>
</file>